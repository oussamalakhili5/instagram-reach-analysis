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F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ptos"/>
              </a:defRPr>
            </a:pPr>
            <a:r>
              <a:t>INSTAGRAM REACH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CDDE6"/>
                </a:solidFill>
                <a:latin typeface="Aptos"/>
              </a:defRPr>
            </a:pPr>
            <a:r>
              <a:t>Projet de Data Mining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4114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ptos"/>
              </a:defRPr>
            </a:pPr>
            <a:r>
              <a:t>Présenté par</a:t>
            </a:r>
            <a:br/>
            <a:r>
              <a:t>Oussama Lakhili</a:t>
            </a:r>
            <a:br/>
            <a:r>
              <a:t>Mohamed Habyby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5394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0">
                <a:solidFill>
                  <a:srgbClr val="DCDDE6"/>
                </a:solidFill>
                <a:latin typeface="Aptos"/>
              </a:defRPr>
            </a:pPr>
            <a:r>
              <a:t>Module : Data Mining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3272F"/>
                </a:solidFill>
                <a:latin typeface="Aptos"/>
              </a:defRPr>
            </a:pPr>
            <a:r>
              <a:t>Pourquoi analyser la portée Instagram 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F6673"/>
                </a:solidFill>
                <a:latin typeface="Aptos"/>
              </a:defRPr>
            </a:pPr>
            <a:r>
              <a:t>Contexte et problématique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F6673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5760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23272F"/>
                </a:solidFill>
                <a:latin typeface="Aptos"/>
              </a:defRPr>
            </a:pPr>
            <a:r>
              <a:t>• Les publications obtiennent des niveaux de portée très différents.</a:t>
            </a:r>
          </a:p>
          <a:p>
            <a:pPr>
              <a:spcAft>
                <a:spcPts val="900"/>
              </a:spcAft>
              <a:defRPr sz="2000">
                <a:solidFill>
                  <a:srgbClr val="23272F"/>
                </a:solidFill>
                <a:latin typeface="Aptos"/>
              </a:defRPr>
            </a:pPr>
            <a:r>
              <a:t>• Identifier les variables associées à une meilleure portée.</a:t>
            </a:r>
          </a:p>
          <a:p>
            <a:pPr>
              <a:spcAft>
                <a:spcPts val="900"/>
              </a:spcAft>
              <a:defRPr sz="2000">
                <a:solidFill>
                  <a:srgbClr val="23272F"/>
                </a:solidFill>
                <a:latin typeface="Aptos"/>
              </a:defRPr>
            </a:pPr>
            <a:r>
              <a:t>• Regrouper les publications selon leur performance.</a:t>
            </a:r>
          </a:p>
          <a:p>
            <a:pPr>
              <a:spcAft>
                <a:spcPts val="900"/>
              </a:spcAft>
              <a:defRPr sz="2000">
                <a:solidFill>
                  <a:srgbClr val="23272F"/>
                </a:solidFill>
                <a:latin typeface="Aptos"/>
              </a:defRPr>
            </a:pPr>
            <a:r>
              <a:t>• Prédire les impressions avec le Machine Learning.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13716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Publication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21945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Engagement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0175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Portée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38404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Performance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3272F"/>
                </a:solidFill>
                <a:latin typeface="Aptos"/>
              </a:defRPr>
            </a:pPr>
            <a:r>
              <a:t>Objectifs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F6673"/>
                </a:solidFill>
                <a:latin typeface="Aptos"/>
              </a:defRPr>
            </a:pPr>
            <a:r>
              <a:t>De la compréhension à la prédiction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F6673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4688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833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833AB4"/>
                </a:solidFill>
                <a:latin typeface="Aptos"/>
              </a:defRPr>
            </a:pPr>
            <a:r>
              <a:t>Comprendre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F6673"/>
                </a:solidFill>
                <a:latin typeface="Aptos"/>
              </a:defRPr>
            </a:pPr>
            <a:r>
              <a:t>Analyser les publications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828800"/>
            <a:ext cx="24688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13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3320" y="2194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E1306C"/>
                </a:solidFill>
                <a:latin typeface="Aptos"/>
              </a:defRPr>
            </a:pPr>
            <a:r>
              <a:t>Découvrir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40" y="28803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F6673"/>
                </a:solidFill>
                <a:latin typeface="Aptos"/>
              </a:defRPr>
            </a:pPr>
            <a:r>
              <a:t>Identifier les relations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828800"/>
            <a:ext cx="24688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FDA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194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FDA038"/>
                </a:solidFill>
                <a:latin typeface="Aptos"/>
              </a:defRPr>
            </a:pPr>
            <a:r>
              <a:t>Segmenter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8803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F6673"/>
                </a:solidFill>
                <a:latin typeface="Aptos"/>
              </a:defRPr>
            </a:pPr>
            <a:r>
              <a:t>Former des groupes K-Means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1828800"/>
            <a:ext cx="24688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2291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2194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22915D"/>
                </a:solidFill>
                <a:latin typeface="Aptos"/>
              </a:defRPr>
            </a:pPr>
            <a:r>
              <a:t>Prédire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28803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F6673"/>
                </a:solidFill>
                <a:latin typeface="Aptos"/>
              </a:defRPr>
            </a:pPr>
            <a:r>
              <a:t>Estimer les impressions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3272F"/>
                </a:solidFill>
                <a:latin typeface="Aptos"/>
              </a:defRPr>
            </a:pPr>
            <a:r>
              <a:t>Méthodologie Data Mining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F6673"/>
                </a:solidFill>
                <a:latin typeface="Aptos"/>
              </a:defRPr>
            </a:pPr>
            <a:r>
              <a:t>Une démarche inspirée du processus KDD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F6673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08760"/>
            <a:ext cx="22402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833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3272F"/>
                </a:solidFill>
                <a:latin typeface="Aptos"/>
              </a:defRPr>
            </a:pPr>
            <a:r>
              <a:t>Données brutes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508760"/>
            <a:ext cx="22402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13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737360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3272F"/>
                </a:solidFill>
                <a:latin typeface="Aptos"/>
              </a:defRPr>
            </a:pPr>
            <a:r>
              <a:t>Nettoyage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508760"/>
            <a:ext cx="22402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FDA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737360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3272F"/>
                </a:solidFill>
                <a:latin typeface="Aptos"/>
              </a:defRPr>
            </a:pPr>
            <a:r>
              <a:t>Analyse exploratoire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98280" y="1508760"/>
            <a:ext cx="22402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2291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89720" y="1737360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3272F"/>
                </a:solidFill>
                <a:latin typeface="Aptos"/>
              </a:defRPr>
            </a:pPr>
            <a:r>
              <a:t>Analyse des variables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520440"/>
            <a:ext cx="22402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833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7490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3272F"/>
                </a:solidFill>
                <a:latin typeface="Aptos"/>
              </a:defRPr>
            </a:pPr>
            <a:r>
              <a:t>K-Means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3520440"/>
            <a:ext cx="22402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13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40" y="37490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3272F"/>
                </a:solidFill>
                <a:latin typeface="Aptos"/>
              </a:defRPr>
            </a:pPr>
            <a:r>
              <a:t>Random Forest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520440"/>
            <a:ext cx="22402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FDA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7490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3272F"/>
                </a:solidFill>
                <a:latin typeface="Aptos"/>
              </a:defRPr>
            </a:pPr>
            <a:r>
              <a:t>Évaluation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98280" y="3520440"/>
            <a:ext cx="22402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2291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20" y="37490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3272F"/>
                </a:solidFill>
                <a:latin typeface="Aptos"/>
              </a:defRPr>
            </a:pPr>
            <a:r>
              <a:t>Dashboard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566928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833AB4"/>
                </a:solidFill>
                <a:latin typeface="Aptos"/>
              </a:defRPr>
            </a:pPr>
            <a:r>
              <a:t>Data Mining descriptif + Data Mining prédictif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3272F"/>
                </a:solidFill>
                <a:latin typeface="Aptos"/>
              </a:defRPr>
            </a:pPr>
            <a:r>
              <a:t>Vue d’ensemble du jeu de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F6673"/>
                </a:solidFill>
                <a:latin typeface="Aptos"/>
              </a:defRPr>
            </a:pPr>
            <a:r>
              <a:t>Export Instagram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F6673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24231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1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F6673"/>
                </a:solidFill>
                <a:latin typeface="Aptos"/>
              </a:defRPr>
            </a:pPr>
            <a:r>
              <a:t>Publications brutes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E1306C"/>
                </a:solidFill>
                <a:latin typeface="Aptos"/>
              </a:defRPr>
            </a:pPr>
            <a:r>
              <a:t>119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417320"/>
            <a:ext cx="24231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1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55448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F6673"/>
                </a:solidFill>
                <a:latin typeface="Aptos"/>
              </a:defRPr>
            </a:pPr>
            <a:r>
              <a:t>Publications uniques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874519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833AB4"/>
                </a:solidFill>
                <a:latin typeface="Aptos"/>
              </a:defRPr>
            </a:pPr>
            <a:r>
              <a:t>102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417320"/>
            <a:ext cx="24231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1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55448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F6673"/>
                </a:solidFill>
                <a:latin typeface="Aptos"/>
              </a:defRPr>
            </a:pPr>
            <a:r>
              <a:t>Colonnes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874519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DA038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417320"/>
            <a:ext cx="24231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1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155448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F6673"/>
                </a:solidFill>
                <a:latin typeface="Aptos"/>
              </a:defRPr>
            </a:pPr>
            <a:r>
              <a:t>Doublons supprimés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1874519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22915D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0632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1306C"/>
                </a:solidFill>
                <a:latin typeface="Aptos"/>
              </a:defRPr>
            </a:pPr>
            <a:r>
              <a:t>Variable cible : 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703320"/>
            <a:ext cx="6675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23272F"/>
                </a:solidFill>
                <a:latin typeface="Aptos"/>
              </a:defRPr>
            </a:pPr>
            <a:r>
              <a:t>• Engagement : Likes, Comments, Shares, Saves</a:t>
            </a:r>
          </a:p>
          <a:p>
            <a:pPr>
              <a:spcAft>
                <a:spcPts val="900"/>
              </a:spcAft>
              <a:defRPr sz="1700">
                <a:solidFill>
                  <a:srgbClr val="23272F"/>
                </a:solidFill>
                <a:latin typeface="Aptos"/>
              </a:defRPr>
            </a:pPr>
            <a:r>
              <a:t>• Conversion : Profile Visits, Follows</a:t>
            </a:r>
          </a:p>
          <a:p>
            <a:pPr>
              <a:spcAft>
                <a:spcPts val="900"/>
              </a:spcAft>
              <a:defRPr sz="1700">
                <a:solidFill>
                  <a:srgbClr val="23272F"/>
                </a:solidFill>
                <a:latin typeface="Aptos"/>
              </a:defRPr>
            </a:pPr>
            <a:r>
              <a:t>• Origine : Home, Hashtags, Explore, Other</a:t>
            </a:r>
          </a:p>
          <a:p>
            <a:pPr>
              <a:spcAft>
                <a:spcPts val="900"/>
              </a:spcAft>
              <a:defRPr sz="1700">
                <a:solidFill>
                  <a:srgbClr val="23272F"/>
                </a:solidFill>
                <a:latin typeface="Aptos"/>
              </a:defRPr>
            </a:pPr>
            <a:r>
              <a:t>• Texte : Caption et Hashtags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3272F"/>
                </a:solidFill>
                <a:latin typeface="Aptos"/>
              </a:defRPr>
            </a:pPr>
            <a:r>
              <a:t>Prétraitement des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F6673"/>
                </a:solidFill>
                <a:latin typeface="Aptos"/>
              </a:defRPr>
            </a:pPr>
            <a:r>
              <a:t>Préparer des variables fiables pour le Data Mining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F6673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57400"/>
            <a:ext cx="20116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833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591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3272F"/>
                </a:solidFill>
                <a:latin typeface="Aptos"/>
              </a:defRPr>
            </a:pPr>
            <a:r>
              <a:t>Jeu brut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03320" y="2057400"/>
            <a:ext cx="20116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13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94759" y="23591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3272F"/>
                </a:solidFill>
                <a:latin typeface="Aptos"/>
              </a:defRPr>
            </a:pPr>
            <a:r>
              <a:t>Nettoyage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057400"/>
            <a:ext cx="20116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FDA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79" y="23591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3272F"/>
                </a:solidFill>
                <a:latin typeface="Aptos"/>
              </a:defRPr>
            </a:pPr>
            <a:r>
              <a:t>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81159" y="2057400"/>
            <a:ext cx="20116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91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599" y="23591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3272F"/>
                </a:solidFill>
                <a:latin typeface="Aptos"/>
              </a:defRPr>
            </a:pPr>
            <a:r>
              <a:t>Jeu préparé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977639"/>
            <a:ext cx="98755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23272F"/>
                </a:solidFill>
                <a:latin typeface="Aptos"/>
              </a:defRPr>
            </a:pPr>
            <a:r>
              <a:t>• Aucune valeur manquante détectée</a:t>
            </a:r>
          </a:p>
          <a:p>
            <a:pPr>
              <a:spcAft>
                <a:spcPts val="900"/>
              </a:spcAft>
              <a:defRPr sz="1800">
                <a:solidFill>
                  <a:srgbClr val="23272F"/>
                </a:solidFill>
                <a:latin typeface="Aptos"/>
              </a:defRPr>
            </a:pPr>
            <a:r>
              <a:t>• Suppression de 17 doublons</a:t>
            </a:r>
          </a:p>
          <a:p>
            <a:pPr>
              <a:spcAft>
                <a:spcPts val="900"/>
              </a:spcAft>
              <a:defRPr sz="1800">
                <a:solidFill>
                  <a:srgbClr val="23272F"/>
                </a:solidFill>
                <a:latin typeface="Aptos"/>
              </a:defRPr>
            </a:pPr>
            <a:r>
              <a:t>• Standardisation des variables pour K-Means</a:t>
            </a:r>
          </a:p>
          <a:p>
            <a:pPr>
              <a:spcAft>
                <a:spcPts val="900"/>
              </a:spcAft>
              <a:defRPr sz="1800">
                <a:solidFill>
                  <a:srgbClr val="23272F"/>
                </a:solidFill>
                <a:latin typeface="Aptos"/>
              </a:defRPr>
            </a:pPr>
            <a:r>
              <a:t>• Six variables communes aux deux modèles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3272F"/>
                </a:solidFill>
                <a:latin typeface="Aptos"/>
              </a:defRPr>
            </a:pPr>
            <a:r>
              <a:t>Analyse exploratoire des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F6673"/>
                </a:solidFill>
                <a:latin typeface="Aptos"/>
              </a:defRPr>
            </a:pPr>
            <a:r>
              <a:t>Comprendre les distributions et relations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F6673"/>
                </a:solidFill>
                <a:latin typeface="Aptos"/>
              </a:defRPr>
            </a:pPr>
            <a:r>
              <a:t>07</a:t>
            </a:r>
          </a:p>
        </p:txBody>
      </p:sp>
      <p:pic>
        <p:nvPicPr>
          <p:cNvPr id="5" name="Picture 4" descr="impression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5212080" cy="2834640"/>
          </a:xfrm>
          <a:prstGeom prst="rect">
            <a:avLst/>
          </a:prstGeom>
        </p:spPr>
      </p:pic>
      <p:pic>
        <p:nvPicPr>
          <p:cNvPr id="6" name="Picture 5" descr="relations_impress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234440"/>
            <a:ext cx="5257800" cy="2834640"/>
          </a:xfrm>
          <a:prstGeom prst="rect">
            <a:avLst/>
          </a:prstGeom>
        </p:spPr>
      </p:pic>
      <p:pic>
        <p:nvPicPr>
          <p:cNvPr id="7" name="Picture 6" descr="correlation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0" y="4251960"/>
            <a:ext cx="6309360" cy="1828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1722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F6673"/>
                </a:solidFill>
                <a:latin typeface="Aptos"/>
              </a:defRPr>
            </a:pPr>
            <a:r>
              <a:t>La distribution des impressions est asymétrique : quelques publications atteignent une portée nettement supérieure.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3272F"/>
                </a:solidFill>
                <a:latin typeface="Aptos"/>
              </a:defRPr>
            </a:pPr>
            <a:r>
              <a:t>Corrélations et facteurs associés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F6673"/>
                </a:solidFill>
                <a:latin typeface="Aptos"/>
              </a:defRPr>
            </a:pPr>
            <a:r>
              <a:t>Association ne signifie pas causalité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F6673"/>
                </a:solidFill>
                <a:latin typeface="Aptos"/>
              </a:defRPr>
            </a:pPr>
            <a:r>
              <a:t>08</a:t>
            </a:r>
          </a:p>
        </p:txBody>
      </p:sp>
      <p:pic>
        <p:nvPicPr>
          <p:cNvPr id="5" name="Picture 4" descr="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557784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12280" y="13716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23272F"/>
                </a:solidFill>
                <a:latin typeface="Aptos"/>
              </a:defRPr>
            </a:pPr>
            <a:r>
              <a:t>Variables les plus importantes dans le modèle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920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272F"/>
                </a:solidFill>
                <a:latin typeface="Aptos"/>
              </a:defRPr>
            </a:pPr>
            <a:r>
              <a:t>Follows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48716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272F"/>
                </a:solidFill>
                <a:latin typeface="Aptos"/>
              </a:defRPr>
            </a:pPr>
            <a:r>
              <a:t>Likes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305409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272F"/>
                </a:solidFill>
                <a:latin typeface="Aptos"/>
              </a:defRPr>
            </a:pPr>
            <a:r>
              <a:t>Profile Visits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62102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272F"/>
                </a:solidFill>
                <a:latin typeface="Aptos"/>
              </a:defRPr>
            </a:pPr>
            <a:r>
              <a:t>Saves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418795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272F"/>
                </a:solidFill>
                <a:latin typeface="Aptos"/>
              </a:defRPr>
            </a:pPr>
            <a:r>
              <a:t>Comments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47548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272F"/>
                </a:solidFill>
                <a:latin typeface="Aptos"/>
              </a:defRPr>
            </a:pPr>
            <a:r>
              <a:t>Shares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544068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F6673"/>
                </a:solidFill>
                <a:latin typeface="Aptos"/>
              </a:defRPr>
            </a:pPr>
            <a:r>
              <a:t>Ces variables sont associées à la portée ; aucune causalité n’est déduite.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3272F"/>
                </a:solidFill>
                <a:latin typeface="Aptos"/>
              </a:defRPr>
            </a:pPr>
            <a:r>
              <a:t>Segmentation des publications avec K-Means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F6673"/>
                </a:solidFill>
                <a:latin typeface="Aptos"/>
              </a:defRPr>
            </a:pPr>
            <a:r>
              <a:t>Apprentissage non supervisé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F6673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300" b="1">
                <a:solidFill>
                  <a:srgbClr val="833AB4"/>
                </a:solidFill>
                <a:latin typeface="Aptos"/>
              </a:defRPr>
            </a:pPr>
            <a:r>
              <a:t>K-Means regroupe les observations selon leur similarité.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4884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23272F"/>
                </a:solidFill>
                <a:latin typeface="Aptos"/>
              </a:defRPr>
            </a:pPr>
            <a:r>
              <a:t>• Six variables d’engagement</a:t>
            </a:r>
          </a:p>
          <a:p>
            <a:pPr>
              <a:spcAft>
                <a:spcPts val="900"/>
              </a:spcAft>
              <a:defRPr sz="1900">
                <a:solidFill>
                  <a:srgbClr val="23272F"/>
                </a:solidFill>
                <a:latin typeface="Aptos"/>
              </a:defRPr>
            </a:pPr>
            <a:r>
              <a:t>• Standardisation des variables</a:t>
            </a:r>
          </a:p>
          <a:p>
            <a:pPr>
              <a:spcAft>
                <a:spcPts val="900"/>
              </a:spcAft>
              <a:defRPr sz="1900">
                <a:solidFill>
                  <a:srgbClr val="23272F"/>
                </a:solidFill>
                <a:latin typeface="Aptos"/>
              </a:defRPr>
            </a:pPr>
            <a:r>
              <a:t>• Recherche d’une structure en 3 groupes</a:t>
            </a:r>
          </a:p>
          <a:p>
            <a:pPr>
              <a:spcAft>
                <a:spcPts val="900"/>
              </a:spcAft>
              <a:defRPr sz="1900">
                <a:solidFill>
                  <a:srgbClr val="23272F"/>
                </a:solidFill>
                <a:latin typeface="Aptos"/>
              </a:defRPr>
            </a:pPr>
            <a:r>
              <a:t>• Interprétation des profils de portée</a:t>
            </a:r>
          </a:p>
        </p:txBody>
      </p:sp>
      <p:pic>
        <p:nvPicPr>
          <p:cNvPr id="7" name="Picture 6" descr="clusters_visua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08760"/>
            <a:ext cx="4663440" cy="3383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03120" y="52578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E1306C"/>
                </a:solidFill>
                <a:latin typeface="Aptos"/>
              </a:defRPr>
            </a:pPr>
            <a:r>
              <a:t>Publications → Variables → K-Means → 3 clusters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3272F"/>
                </a:solidFill>
                <a:latin typeface="Aptos"/>
              </a:defRPr>
            </a:pPr>
            <a:r>
              <a:t>Résultats du clustering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F6673"/>
                </a:solidFill>
                <a:latin typeface="Aptos"/>
              </a:defRPr>
            </a:pPr>
            <a:r>
              <a:t>Trois profils de publications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F6673"/>
                </a:solidFill>
                <a:latin typeface="Aptos"/>
              </a:defRPr>
            </a:pPr>
            <a: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65836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</a:tblGrid>
              <a:tr h="5257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Cluster</a:t>
                      </a:r>
                    </a:p>
                  </a:txBody>
                  <a:tcPr>
                    <a:solidFill>
                      <a:srgbClr val="181F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Publications</a:t>
                      </a:r>
                    </a:p>
                  </a:txBody>
                  <a:tcPr>
                    <a:solidFill>
                      <a:srgbClr val="181F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Impressions moyennes</a:t>
                      </a:r>
                    </a:p>
                  </a:txBody>
                  <a:tcPr>
                    <a:solidFill>
                      <a:srgbClr val="181F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Profil</a:t>
                      </a:r>
                    </a:p>
                  </a:txBody>
                  <a:tcPr>
                    <a:solidFill>
                      <a:srgbClr val="181F3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3272F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3272F"/>
                          </a:solidFill>
                          <a:latin typeface="Aptos"/>
                        </a:defRPr>
                      </a:pPr>
                      <a:r>
                        <a:t>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3272F"/>
                          </a:solidFill>
                          <a:latin typeface="Aptos"/>
                        </a:defRPr>
                      </a:pPr>
                      <a:r>
                        <a:t>4 336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3272F"/>
                          </a:solidFill>
                          <a:latin typeface="Aptos"/>
                        </a:defRPr>
                      </a:pPr>
                      <a:r>
                        <a:t>Portée faible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3272F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FF0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3272F"/>
                          </a:solidFill>
                          <a:latin typeface="Aptos"/>
                        </a:defRPr>
                      </a:pPr>
                      <a:r>
                        <a:t>17</a:t>
                      </a:r>
                    </a:p>
                  </a:txBody>
                  <a:tcPr>
                    <a:solidFill>
                      <a:srgbClr val="EFF0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3272F"/>
                          </a:solidFill>
                          <a:latin typeface="Aptos"/>
                        </a:defRPr>
                      </a:pPr>
                      <a:r>
                        <a:t>9 491</a:t>
                      </a:r>
                    </a:p>
                  </a:txBody>
                  <a:tcPr>
                    <a:solidFill>
                      <a:srgbClr val="EFF0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3272F"/>
                          </a:solidFill>
                          <a:latin typeface="Aptos"/>
                        </a:defRPr>
                      </a:pPr>
                      <a:r>
                        <a:t>Portée intermédiaire</a:t>
                      </a:r>
                    </a:p>
                  </a:txBody>
                  <a:tcPr>
                    <a:solidFill>
                      <a:srgbClr val="EFF0F6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3272F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3272F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3272F"/>
                          </a:solidFill>
                          <a:latin typeface="Aptos"/>
                        </a:defRPr>
                      </a:pPr>
                      <a:r>
                        <a:t>29 003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3272F"/>
                          </a:solidFill>
                          <a:latin typeface="Aptos"/>
                        </a:defRPr>
                      </a:pPr>
                      <a:r>
                        <a:t>Portée élevée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cluster_interpre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280160"/>
            <a:ext cx="3931920" cy="2468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4160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1306C"/>
                </a:solidFill>
                <a:latin typeface="Aptos"/>
              </a:defRPr>
            </a:pPr>
            <a:r>
              <a:t>Insight principal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617720"/>
            <a:ext cx="9966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23272F"/>
                </a:solidFill>
                <a:latin typeface="Aptos"/>
              </a:defRPr>
            </a:pPr>
            <a:r>
              <a:t>Un petit nombre de publications concentre une portée nettement supérieure.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6235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F6673"/>
                </a:solidFill>
                <a:latin typeface="Aptos"/>
              </a:defRPr>
            </a:pPr>
            <a:r>
              <a:t>Score de silhouette : 0.454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3272F"/>
                </a:solidFill>
                <a:latin typeface="Aptos"/>
              </a:defRPr>
            </a:pPr>
            <a:r>
              <a:t>Prédire la portée avec Random Forest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F6673"/>
                </a:solidFill>
                <a:latin typeface="Aptos"/>
              </a:defRPr>
            </a:pPr>
            <a:r>
              <a:t>Apprentissage supervisé et régression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F6673"/>
                </a:solidFill>
                <a:latin typeface="Aptos"/>
              </a:defRPr>
            </a:pPr>
            <a:r>
              <a:t>11</a:t>
            </a:r>
          </a:p>
        </p:txBody>
      </p:sp>
      <p:pic>
        <p:nvPicPr>
          <p:cNvPr id="5" name="Picture 4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25880"/>
            <a:ext cx="5394960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4173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833AB4"/>
                </a:solidFill>
                <a:latin typeface="Aptos"/>
              </a:defRPr>
            </a:pPr>
            <a:r>
              <a:t>Random Forest Regressor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148840"/>
            <a:ext cx="4480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23272F"/>
                </a:solidFill>
                <a:latin typeface="Aptos"/>
              </a:defRPr>
            </a:pPr>
            <a:r>
              <a:t>• Combine plusieurs arbres de décision</a:t>
            </a:r>
          </a:p>
          <a:p>
            <a:pPr>
              <a:spcAft>
                <a:spcPts val="900"/>
              </a:spcAft>
              <a:defRPr sz="1800">
                <a:solidFill>
                  <a:srgbClr val="23272F"/>
                </a:solidFill>
                <a:latin typeface="Aptos"/>
              </a:defRPr>
            </a:pPr>
            <a:r>
              <a:t>• Capture les relations non linéaires</a:t>
            </a:r>
          </a:p>
          <a:p>
            <a:pPr>
              <a:spcAft>
                <a:spcPts val="900"/>
              </a:spcAft>
              <a:defRPr sz="1800">
                <a:solidFill>
                  <a:srgbClr val="23272F"/>
                </a:solidFill>
                <a:latin typeface="Aptos"/>
              </a:defRPr>
            </a:pPr>
            <a:r>
              <a:t>• Fournit une importance des variables</a:t>
            </a:r>
          </a:p>
          <a:p>
            <a:pPr>
              <a:spcAft>
                <a:spcPts val="900"/>
              </a:spcAft>
              <a:defRPr sz="1800">
                <a:solidFill>
                  <a:srgbClr val="23272F"/>
                </a:solidFill>
                <a:latin typeface="Aptos"/>
              </a:defRPr>
            </a:pPr>
            <a:r>
              <a:t>• 100 arbres, split 80/20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3272F"/>
                </a:solidFill>
                <a:latin typeface="Aptos"/>
              </a:defRPr>
            </a:pPr>
            <a:r>
              <a:t>Performance du modèle prédictif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F6673"/>
                </a:solidFill>
                <a:latin typeface="Aptos"/>
              </a:defRPr>
            </a:pPr>
            <a:r>
              <a:t>Évaluation sur un échantillon de test fixe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F6673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1417320"/>
            <a:ext cx="24231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1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55448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F6673"/>
                </a:solidFill>
                <a:latin typeface="Aptos"/>
              </a:defRPr>
            </a:pPr>
            <a:r>
              <a:t>R²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874519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833AB4"/>
                </a:solidFill>
                <a:latin typeface="Aptos"/>
              </a:defRPr>
            </a:pPr>
            <a:r>
              <a:t>0.847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417320"/>
            <a:ext cx="24231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1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55448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F6673"/>
                </a:solidFill>
                <a:latin typeface="Aptos"/>
              </a:defRPr>
            </a:pPr>
            <a:r>
              <a:t>MAE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874519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E1306C"/>
                </a:solidFill>
                <a:latin typeface="Aptos"/>
              </a:defRPr>
            </a:pPr>
            <a:r>
              <a:t>1,448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417320"/>
            <a:ext cx="24231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1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55448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F6673"/>
                </a:solidFill>
                <a:latin typeface="Aptos"/>
              </a:defRPr>
            </a:pPr>
            <a:r>
              <a:t>RMSE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874519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DA038"/>
                </a:solidFill>
                <a:latin typeface="Aptos"/>
              </a:defRPr>
            </a:pPr>
            <a:r>
              <a:t>2,748</a:t>
            </a:r>
          </a:p>
        </p:txBody>
      </p:sp>
      <p:pic>
        <p:nvPicPr>
          <p:cNvPr id="14" name="Picture 13" descr="predictions_vs_r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3657600"/>
            <a:ext cx="6080760" cy="2011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51560" y="315468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F6673"/>
                </a:solidFill>
                <a:latin typeface="Aptos"/>
              </a:defRPr>
            </a:pPr>
            <a:r>
              <a:t>Le modèle explique environ 84.7 % de la variance. Erreur absolue moyenne : 1,448 impressions.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3272F"/>
                </a:solidFill>
                <a:latin typeface="Aptos"/>
              </a:defRPr>
            </a:pPr>
            <a:r>
              <a:t>Importance des variables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F6673"/>
                </a:solidFill>
                <a:latin typeface="Aptos"/>
              </a:defRPr>
            </a:pPr>
            <a:r>
              <a:t>Que mobilise le modèle pour prédire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F6673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3272F"/>
                </a:solidFill>
                <a:latin typeface="Aptos"/>
              </a:defRPr>
            </a:pPr>
            <a:r>
              <a:t>Classement obtenu à partir du modèle entraîné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3272F"/>
                </a:solidFill>
                <a:latin typeface="Aptos"/>
              </a:defRPr>
            </a:pPr>
            <a:r>
              <a:t>1. Follows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5F6673"/>
                </a:solidFill>
                <a:latin typeface="Aptos"/>
              </a:defRPr>
            </a:pPr>
            <a:r>
              <a:t>0.419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487168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3272F"/>
                </a:solidFill>
                <a:latin typeface="Aptos"/>
              </a:defRPr>
            </a:pPr>
            <a:r>
              <a:t>2. Likes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248716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5F6673"/>
                </a:solidFill>
                <a:latin typeface="Aptos"/>
              </a:defRPr>
            </a:pPr>
            <a:r>
              <a:t>0.280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145536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3272F"/>
                </a:solidFill>
                <a:latin typeface="Aptos"/>
              </a:defRPr>
            </a:pPr>
            <a:r>
              <a:t>3. Profile Visits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314553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5F6673"/>
                </a:solidFill>
                <a:latin typeface="Aptos"/>
              </a:defRPr>
            </a:pPr>
            <a:r>
              <a:t>0.151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803904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3272F"/>
                </a:solidFill>
                <a:latin typeface="Aptos"/>
              </a:defRPr>
            </a:pPr>
            <a:r>
              <a:t>4. Saves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380390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5F6673"/>
                </a:solidFill>
                <a:latin typeface="Aptos"/>
              </a:defRPr>
            </a:pPr>
            <a:r>
              <a:t>0.078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462272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3272F"/>
                </a:solidFill>
                <a:latin typeface="Aptos"/>
              </a:defRPr>
            </a:pPr>
            <a:r>
              <a:t>5. Comments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446227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5F6673"/>
                </a:solidFill>
                <a:latin typeface="Aptos"/>
              </a:defRPr>
            </a:pPr>
            <a:r>
              <a:t>0.040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2064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3272F"/>
                </a:solidFill>
                <a:latin typeface="Aptos"/>
              </a:defRPr>
            </a:pPr>
            <a:r>
              <a:t>6. Shares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51206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5F6673"/>
                </a:solidFill>
                <a:latin typeface="Aptos"/>
              </a:defRPr>
            </a:pPr>
            <a:r>
              <a:t>0.033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80644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5F6673"/>
                </a:solidFill>
                <a:latin typeface="Aptos"/>
              </a:defRPr>
            </a:pPr>
            <a:r>
              <a:t>L’importance indique une pertinence prédictive, pas un lien de causalité.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3272F"/>
                </a:solidFill>
                <a:latin typeface="Aptos"/>
              </a:defRPr>
            </a:pPr>
            <a:r>
              <a:t>Dashboard interactif Streamlit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F6673"/>
                </a:solidFill>
                <a:latin typeface="Aptos"/>
              </a:defRPr>
            </a:pPr>
            <a:r>
              <a:t>Du Data Mining vers un outil d’aide à la décision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F6673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31546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833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2880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833AB4"/>
                </a:solidFill>
                <a:latin typeface="Aptos"/>
              </a:defRPr>
            </a:pPr>
            <a:r>
              <a:t>Vue d’ensemble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F6673"/>
                </a:solidFill>
                <a:latin typeface="Aptos"/>
              </a:defRPr>
            </a:pPr>
            <a:r>
              <a:t>KPI dynamiques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1546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13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645920"/>
            <a:ext cx="2880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1306C"/>
                </a:solidFill>
                <a:latin typeface="Aptos"/>
              </a:defRPr>
            </a:pPr>
            <a:r>
              <a:t>Analyse descriptive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084832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F6673"/>
                </a:solidFill>
                <a:latin typeface="Aptos"/>
              </a:defRPr>
            </a:pPr>
            <a:r>
              <a:t>Données et graphiques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1463040"/>
            <a:ext cx="31546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FDA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19" y="1645920"/>
            <a:ext cx="2880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A038"/>
                </a:solidFill>
                <a:latin typeface="Aptos"/>
              </a:defRPr>
            </a:pPr>
            <a:r>
              <a:t>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19" y="2084832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F6673"/>
                </a:solidFill>
                <a:latin typeface="Aptos"/>
              </a:defRPr>
            </a:pPr>
            <a:r>
              <a:t>Profils K-Means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383280"/>
            <a:ext cx="31546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2291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2880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2915D"/>
                </a:solidFill>
                <a:latin typeface="Aptos"/>
              </a:defRPr>
            </a:pPr>
            <a:r>
              <a:t>Prédiction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005072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F6673"/>
                </a:solidFill>
                <a:latin typeface="Aptos"/>
              </a:defRPr>
            </a:pPr>
            <a:r>
              <a:t>Résultats du modèle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383280"/>
            <a:ext cx="31546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833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3566160"/>
            <a:ext cx="2880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833AB4"/>
                </a:solidFill>
                <a:latin typeface="Aptos"/>
              </a:defRPr>
            </a:pPr>
            <a:r>
              <a:t>Performance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4005072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F6673"/>
                </a:solidFill>
                <a:latin typeface="Aptos"/>
              </a:defRPr>
            </a:pPr>
            <a:r>
              <a:t>Métriques et importance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3383280"/>
            <a:ext cx="31546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13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19" y="3566160"/>
            <a:ext cx="2880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1306C"/>
                </a:solidFill>
                <a:latin typeface="Aptos"/>
              </a:defRPr>
            </a:pPr>
            <a:r>
              <a:t>Insights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4005072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F6673"/>
                </a:solidFill>
                <a:latin typeface="Aptos"/>
              </a:defRPr>
            </a:pPr>
            <a:r>
              <a:t>Interprétation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5806440"/>
            <a:ext cx="8138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833AB4"/>
                </a:solidFill>
                <a:latin typeface="Aptos"/>
              </a:defRPr>
            </a:pPr>
            <a:r>
              <a:t>Une même base analytique, accessible et interactive.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3272F"/>
                </a:solidFill>
                <a:latin typeface="Aptos"/>
              </a:defRPr>
            </a:pPr>
            <a:r>
              <a:t>Enseignements et recommandations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F6673"/>
                </a:solidFill>
                <a:latin typeface="Aptos"/>
              </a:defRPr>
            </a:pPr>
            <a:r>
              <a:t>Transformer les résultats en connaissance exploitable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F6673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23272F"/>
                </a:solidFill>
                <a:latin typeface="Aptos"/>
              </a:defRPr>
            </a:pPr>
            <a:r>
              <a:t>• La performance des publications est fortement hétérogène.</a:t>
            </a:r>
          </a:p>
          <a:p>
            <a:pPr>
              <a:spcAft>
                <a:spcPts val="900"/>
              </a:spcAft>
              <a:defRPr sz="1900">
                <a:solidFill>
                  <a:srgbClr val="23272F"/>
                </a:solidFill>
                <a:latin typeface="Aptos"/>
              </a:defRPr>
            </a:pPr>
            <a:r>
              <a:t>• K-Means révèle trois groupes de portée distincts.</a:t>
            </a:r>
          </a:p>
          <a:p>
            <a:pPr>
              <a:spcAft>
                <a:spcPts val="900"/>
              </a:spcAft>
              <a:defRPr sz="1900">
                <a:solidFill>
                  <a:srgbClr val="23272F"/>
                </a:solidFill>
                <a:latin typeface="Aptos"/>
              </a:defRPr>
            </a:pPr>
            <a:r>
              <a:t>• Le groupe à portée élevée ne contient que trois publications.</a:t>
            </a:r>
          </a:p>
          <a:p>
            <a:pPr>
              <a:spcAft>
                <a:spcPts val="900"/>
              </a:spcAft>
              <a:defRPr sz="1900">
                <a:solidFill>
                  <a:srgbClr val="23272F"/>
                </a:solidFill>
                <a:latin typeface="Aptos"/>
              </a:defRPr>
            </a:pPr>
            <a:r>
              <a:t>• Les variables d’engagement sont importantes pour la prédiction.</a:t>
            </a:r>
          </a:p>
          <a:p>
            <a:pPr>
              <a:spcAft>
                <a:spcPts val="900"/>
              </a:spcAft>
              <a:defRPr sz="1900">
                <a:solidFill>
                  <a:srgbClr val="23272F"/>
                </a:solidFill>
                <a:latin typeface="Aptos"/>
              </a:defRPr>
            </a:pPr>
            <a:r>
              <a:t>• Random Forest atteint un R² de 0,847 sur le test.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417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E1306C"/>
                </a:solidFill>
                <a:latin typeface="Aptos"/>
              </a:defRPr>
            </a:pPr>
            <a:r>
              <a:t>Recommandations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10312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23272F"/>
                </a:solidFill>
                <a:latin typeface="Aptos"/>
              </a:defRPr>
            </a:pPr>
            <a:r>
              <a:t>• Analyser les publications à forte portée.</a:t>
            </a:r>
          </a:p>
          <a:p>
            <a:pPr>
              <a:spcAft>
                <a:spcPts val="900"/>
              </a:spcAft>
              <a:defRPr sz="1700">
                <a:solidFill>
                  <a:srgbClr val="23272F"/>
                </a:solidFill>
                <a:latin typeface="Aptos"/>
              </a:defRPr>
            </a:pPr>
            <a:r>
              <a:t>• Suivre sauvegardes, partages et visites de profil.</a:t>
            </a:r>
          </a:p>
          <a:p>
            <a:pPr>
              <a:spcAft>
                <a:spcPts val="900"/>
              </a:spcAft>
              <a:defRPr sz="1700">
                <a:solidFill>
                  <a:srgbClr val="23272F"/>
                </a:solidFill>
                <a:latin typeface="Aptos"/>
              </a:defRPr>
            </a:pPr>
            <a:r>
              <a:t>• Utiliser le modèle comme support, pas comme preuve causale.</a:t>
            </a:r>
          </a:p>
          <a:p>
            <a:pPr>
              <a:spcAft>
                <a:spcPts val="900"/>
              </a:spcAft>
              <a:defRPr sz="1700">
                <a:solidFill>
                  <a:srgbClr val="23272F"/>
                </a:solidFill>
                <a:latin typeface="Aptos"/>
              </a:defRPr>
            </a:pPr>
            <a:r>
              <a:t>• Valider avec un jeu de données plus large et temporel.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F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CDDE6"/>
                </a:solidFill>
                <a:latin typeface="Aptos"/>
              </a:defRPr>
            </a:pPr>
            <a:r>
              <a:t>Merci pour votre attention !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1B9FF"/>
                </a:solidFill>
                <a:latin typeface="Aptos"/>
              </a:defRPr>
            </a:pPr>
            <a:r>
              <a:t>Comprendre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Aptos"/>
              </a:defRPr>
            </a:pPr>
            <a:r>
              <a:t>L’analyse descriptive révèle la structure des données.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3756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AAC8"/>
                </a:solidFill>
                <a:latin typeface="Aptos"/>
              </a:defRPr>
            </a:pPr>
            <a:r>
              <a:t>Segmenter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Aptos"/>
              </a:defRPr>
            </a:pPr>
            <a:r>
              <a:t>K-Means distingue des profils de publications.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634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C678"/>
                </a:solidFill>
                <a:latin typeface="Aptos"/>
              </a:defRPr>
            </a:pPr>
            <a:r>
              <a:t>Prédire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66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Aptos"/>
              </a:defRPr>
            </a:pPr>
            <a:r>
              <a:t>Random Forest estime les impressions.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69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DCDDE6"/>
                </a:solidFill>
                <a:latin typeface="Aptos"/>
              </a:defRPr>
            </a:pPr>
            <a:r>
              <a:t>Oussama Lakhili &amp; Mohamed Habyby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